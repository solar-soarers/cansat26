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6" r:id="rId3"/>
    <p:sldId id="277" r:id="rId4"/>
    <p:sldId id="278" r:id="rId5"/>
    <p:sldId id="279" r:id="rId6"/>
    <p:sldId id="280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45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224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C0FE7-3312-A550-3845-5E4E93BF8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9F1D-B8AA-97B3-74C3-83DC963BA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33DCC-2897-6D28-E5EC-31699C9A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ECEB-DFD1-4E39-A57D-70197C810FEB}" type="datetimeFigureOut">
              <a:rPr lang="en-IN" smtClean="0"/>
              <a:t>10/06/26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25220-4ABC-DCF3-0439-9A273A103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FC4CC-6E64-9268-2008-DB146D9CB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6CFFF-3515-47D2-AF83-389B55017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363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206DC-DB14-C5D3-C0DC-DB20AE6D3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B0603-9072-0C6E-3890-6FB7CFCE1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4062D-69CC-F326-2AEA-601992A3C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ECEB-DFD1-4E39-A57D-70197C810FEB}" type="datetimeFigureOut">
              <a:rPr lang="en-IN" smtClean="0"/>
              <a:t>10/06/26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B5B10-3BA3-A149-9B04-A45B19718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0D5BF-61F6-76F4-4A88-1D1C06833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6CFFF-3515-47D2-AF83-389B55017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361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79B15-CC5C-113E-5458-D77AC4FBA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45278-0DA6-9A29-2E8E-77B2F9DC7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0BD90-8744-1A74-B843-0CDDA2622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ECEB-DFD1-4E39-A57D-70197C810FEB}" type="datetimeFigureOut">
              <a:rPr lang="en-IN" smtClean="0"/>
              <a:t>10/06/26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7B480-6DE6-578D-AAA0-16C008D46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5D1A2-16E5-F48C-E9B8-EA9675F6C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6CFFF-3515-47D2-AF83-389B55017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333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7C4BE-FFE4-BE4E-F9A6-98F90759C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0D9AB-B7E8-07F2-D226-4B05D07B7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E4EBC-5905-2F6A-4D00-A2C94E642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5ADAB-D443-9909-604D-F03D2A45F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ECEB-DFD1-4E39-A57D-70197C810FEB}" type="datetimeFigureOut">
              <a:rPr lang="en-IN" smtClean="0"/>
              <a:t>10/06/26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1BDA6-2DC3-4841-1257-BFBA11CED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4174B-4FE4-271F-0074-F3C5CFCC5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6CFFF-3515-47D2-AF83-389B55017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682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5B50-90EB-7262-13BD-517D7E67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CBE40-8611-3C36-1E4F-ABD439939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4DC78-9487-42AD-F3DD-0411D9DA3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E337F-27D3-2F46-50E3-35081FE7A7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24A365-A186-007D-20AC-292ECEF67B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295BBB-B3D5-DD6B-2257-A36CF3964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ECEB-DFD1-4E39-A57D-70197C810FEB}" type="datetimeFigureOut">
              <a:rPr lang="en-IN" smtClean="0"/>
              <a:t>10/06/26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637340-6049-BC4F-92EC-C837C70BD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DE49CF-C912-D10E-183D-D81708475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6CFFF-3515-47D2-AF83-389B55017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156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F284B-3E60-BFC9-B363-E8EB338BB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CDC16F-7176-AD4F-B398-FFE93A2D1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ECEB-DFD1-4E39-A57D-70197C810FEB}" type="datetimeFigureOut">
              <a:rPr lang="en-IN" smtClean="0"/>
              <a:t>10/06/26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7FD58F-74B8-9EA1-2916-885CA5AFD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9F1E5-4FE4-7CB8-5C7B-B394848AF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6CFFF-3515-47D2-AF83-389B55017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718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11CB95-C08E-9EF7-FF48-290DEBEE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ECEB-DFD1-4E39-A57D-70197C810FEB}" type="datetimeFigureOut">
              <a:rPr lang="en-IN" smtClean="0"/>
              <a:t>10/06/26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D38230-180F-BDC8-4525-4A95E570E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3CF8F-6F43-DDC5-C04F-EC6CFC309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6CFFF-3515-47D2-AF83-389B55017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708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A326F-2050-882A-F8ED-4800BF80D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A9112-A80C-D2DF-A293-03639F875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D29FA-6099-FA43-50D2-E03B6A9A1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7B4C8-78B5-2DB2-794E-5ABAE240D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ECEB-DFD1-4E39-A57D-70197C810FEB}" type="datetimeFigureOut">
              <a:rPr lang="en-IN" smtClean="0"/>
              <a:t>10/06/26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E17F3-480C-7721-44CE-AF41B75E2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52438-9712-45D8-7219-16F5DEBBD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6CFFF-3515-47D2-AF83-389B55017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225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8394-EF29-ECC0-DDBF-230BA5F51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05DC52-7C5C-E8AF-48B1-A80C76AA62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9E03B-0084-56BB-C957-D3DEF3C9C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16F8C-72BC-B15E-599E-9F5F43778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ECEB-DFD1-4E39-A57D-70197C810FEB}" type="datetimeFigureOut">
              <a:rPr lang="en-IN" smtClean="0"/>
              <a:t>10/06/26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AF582-B610-B1D4-5148-D2894826F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93D11-D5C4-9912-D28F-285AC244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6CFFF-3515-47D2-AF83-389B55017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823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FAB44-09BB-0708-1F3C-68BC37A29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E465E7-12AB-3B98-9C66-AECBF4298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E2A16-95FD-1E4B-2488-A3F804247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ECEB-DFD1-4E39-A57D-70197C810FEB}" type="datetimeFigureOut">
              <a:rPr lang="en-IN" smtClean="0"/>
              <a:t>10/06/26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80412-2E72-95DB-C953-96D67334B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78900-BA28-81CA-E94A-A5916832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6CFFF-3515-47D2-AF83-389B55017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613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8E9DFE-0F56-B8DC-6F8C-14DDAA2F00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6552A0-29B8-6DC3-3E8B-1D6B83697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AE822-7789-21A0-E868-0B570526B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ECEB-DFD1-4E39-A57D-70197C810FEB}" type="datetimeFigureOut">
              <a:rPr lang="en-IN" smtClean="0"/>
              <a:t>10/06/26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9A92D-6ED3-ADAD-96D7-4D50B5E97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F2BC2-AA12-367B-F509-35E6F1CCC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6CFFF-3515-47D2-AF83-389B55017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296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C4FEA6-F346-1ED9-AA9B-5DC86D361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18A5D-7283-F677-7EF5-970F3F586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01F56-5D4B-66D1-7923-988514FCC0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EECEB-DFD1-4E39-A57D-70197C810FEB}" type="datetimeFigureOut">
              <a:rPr lang="en-IN" smtClean="0"/>
              <a:t>10/06/26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9EEA7-C43B-0536-92BA-02AC8C14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F8BAD-CE2D-D82F-B2AE-DCE31A8024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6CFFF-3515-47D2-AF83-389B550177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416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1132" y="6156972"/>
            <a:ext cx="1940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LOGO/NAME</a:t>
            </a:r>
            <a:endParaRPr lang="en-IN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-14002" y="793810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14002" y="5971407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2122004" y="6356350"/>
            <a:ext cx="7598466" cy="365125"/>
          </a:xfrm>
        </p:spPr>
        <p:txBody>
          <a:bodyPr/>
          <a:lstStyle/>
          <a:p>
            <a:r>
              <a:rPr lang="en-US" b="1" dirty="0"/>
              <a:t>IN-</a:t>
            </a:r>
            <a:r>
              <a:rPr lang="en-US" b="1" dirty="0" err="1"/>
              <a:t>SPACe</a:t>
            </a:r>
            <a:r>
              <a:rPr lang="en-US" b="1" dirty="0"/>
              <a:t> Model Rocketry/CAN-7USAT India Student Competition 2026</a:t>
            </a:r>
            <a:r>
              <a:rPr lang="en-IN" b="1" dirty="0"/>
              <a:t>:</a:t>
            </a:r>
            <a:r>
              <a:rPr lang="en-US" b="1" dirty="0"/>
              <a:t>: Team Name</a:t>
            </a:r>
            <a:endParaRPr lang="en-IN" b="1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99CB0-4C32-4B68-A389-FCE520BC031C}" type="slidenum">
              <a:rPr lang="en-IN" smtClean="0"/>
              <a:t>1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07C18-D818-35FC-582D-329FFCE301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179" y="136525"/>
            <a:ext cx="2329641" cy="577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0548FD-DFA7-4E15-ACFB-F05CE31AF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022" y="6044296"/>
            <a:ext cx="1463976" cy="8234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DC5DFA-6406-4080-A392-92E2E775B7BD}"/>
              </a:ext>
            </a:extLst>
          </p:cNvPr>
          <p:cNvSpPr txBox="1"/>
          <p:nvPr/>
        </p:nvSpPr>
        <p:spPr>
          <a:xfrm>
            <a:off x="-14002" y="886593"/>
            <a:ext cx="12206002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CANSAT configuration overview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11480" y="1517904"/>
            <a:ext cx="4343400" cy="4224528"/>
          </a:xfrm>
          <a:prstGeom prst="rect">
            <a:avLst/>
          </a:prstGeom>
          <a:solidFill>
            <a:srgbClr val="F4F8FD"/>
          </a:solidFill>
          <a:ln w="12700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1554480"/>
            <a:ext cx="4343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B5394"/>
                </a:solidFill>
                <a:latin typeface="Calibri"/>
              </a:rPr>
              <a:t>Configuration — Cutaway (top to bottom)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1901952"/>
            <a:ext cx="402336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1901952"/>
            <a:ext cx="39319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GNSS antenna + Top cap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267712"/>
            <a:ext cx="402336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267712"/>
            <a:ext cx="39319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Primary drogue (passive, drag)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633472"/>
            <a:ext cx="402336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2633472"/>
            <a:ext cx="39319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Steerable main (GPS) @600m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2999232"/>
            <a:ext cx="402336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E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2999232"/>
            <a:ext cx="39319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Momentum wheel (gyro stab.)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364991"/>
            <a:ext cx="402336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364991"/>
            <a:ext cx="39319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Avionics + clean-air sensors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730752"/>
            <a:ext cx="402336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3730752"/>
            <a:ext cx="39319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Particulate bay (SPS30, ducted)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096512"/>
            <a:ext cx="402336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096512"/>
            <a:ext cx="39319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Heated-gas bay (MQ135/MiCS/UV)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462272"/>
            <a:ext cx="402336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462272"/>
            <a:ext cx="39319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Comms (XBee + NavIC)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828032"/>
            <a:ext cx="402336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4828032"/>
            <a:ext cx="39319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Power: 18650, 95 dB beacon + LED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193792"/>
            <a:ext cx="4023360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5193792"/>
            <a:ext cx="3931920" cy="31089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333333"/>
                </a:solidFill>
                <a:latin typeface="Calibri"/>
              </a:rPr>
              <a:t>Bottom cap + bumper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56048" y="1517904"/>
            <a:ext cx="6821424" cy="841248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12700"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56048" y="1545336"/>
            <a:ext cx="6821424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B7A43"/>
                </a:solidFill>
                <a:latin typeface="Calibri"/>
              </a:rPr>
              <a:t>Mission:  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Profile the vertical pollution column (PM, NO2/CO, CO2, NH3, VOC, UV) of the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atmosphere during descent — an urban air-quality &amp; wildfire-smoke mapping CANSAT, on a fully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compliant two-stage parachute + momentum-wheel platform.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56048" y="2468880"/>
            <a:ext cx="3346704" cy="749808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56048" y="2523744"/>
            <a:ext cx="3346704" cy="6583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0B5394"/>
                </a:solidFill>
                <a:latin typeface="Calibri"/>
              </a:rPr>
              <a:t>~710 g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5A5A"/>
                </a:solidFill>
                <a:latin typeface="Calibri"/>
              </a:rPr>
              <a:t>Total mass (limit 1000 g)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30768" y="2468880"/>
            <a:ext cx="3346704" cy="749808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30768" y="2523744"/>
            <a:ext cx="3346704" cy="6583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0B5394"/>
                </a:solidFill>
                <a:latin typeface="Calibri"/>
              </a:rPr>
              <a:t>148 x 390 mm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5A5A"/>
                </a:solidFill>
                <a:latin typeface="Calibri"/>
              </a:rPr>
              <a:t>Envelope (max 150 x 400)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56048" y="3310128"/>
            <a:ext cx="3346704" cy="749808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12700"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956048" y="3364992"/>
            <a:ext cx="3346704" cy="6583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1B7A43"/>
                </a:solidFill>
                <a:latin typeface="Calibri"/>
              </a:rPr>
              <a:t>1000 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5A5A"/>
                </a:solidFill>
                <a:latin typeface="Calibri"/>
              </a:rPr>
              <a:t>Deploy altitude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30768" y="3310128"/>
            <a:ext cx="3346704" cy="749808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12700"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30768" y="3364992"/>
            <a:ext cx="3346704" cy="6583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1B7A43"/>
                </a:solidFill>
                <a:latin typeface="Calibri"/>
              </a:rPr>
              <a:t>20 -&gt; 1-3 m/s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5A5A"/>
                </a:solidFill>
                <a:latin typeface="Calibri"/>
              </a:rPr>
              <a:t>Drogue -&gt; main descent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56048" y="4224528"/>
            <a:ext cx="6821424" cy="1207008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 w="12700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956048" y="4251960"/>
            <a:ext cx="6821424" cy="256032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B5394"/>
                </a:solidFill>
                <a:latin typeface="Calibri"/>
              </a:rPr>
              <a:t>Major Components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4517136"/>
            <a:ext cx="3383280" cy="9144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 b="1">
                <a:solidFill>
                  <a:srgbClr val="333333"/>
                </a:solidFill>
                <a:latin typeface="Calibri"/>
              </a:rPr>
              <a:t>Structure: </a:t>
            </a:r>
            <a:r>
              <a:rPr sz="1000" b="0">
                <a:solidFill>
                  <a:srgbClr val="333333"/>
                </a:solidFill>
                <a:latin typeface="Calibri"/>
              </a:rPr>
              <a:t>fiberglass/epoxy shell + PLA bulkheads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 b="1">
                <a:solidFill>
                  <a:srgbClr val="333333"/>
                </a:solidFill>
                <a:latin typeface="Calibri"/>
              </a:rPr>
              <a:t>Avionics: </a:t>
            </a:r>
            <a:r>
              <a:rPr sz="1000" b="0">
                <a:solidFill>
                  <a:srgbClr val="333333"/>
                </a:solidFill>
                <a:latin typeface="Calibri"/>
              </a:rPr>
              <a:t>ESP32 on custom 2-layer PCB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 b="1">
                <a:solidFill>
                  <a:srgbClr val="333333"/>
                </a:solidFill>
                <a:latin typeface="Calibri"/>
              </a:rPr>
              <a:t>Descent: </a:t>
            </a:r>
            <a:r>
              <a:rPr sz="1000" b="0">
                <a:solidFill>
                  <a:srgbClr val="333333"/>
                </a:solidFill>
                <a:latin typeface="Calibri"/>
              </a:rPr>
              <a:t>drogue + GPS-steered main + wheel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4517136"/>
            <a:ext cx="3291840" cy="9144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 b="1">
                <a:solidFill>
                  <a:srgbClr val="333333"/>
                </a:solidFill>
                <a:latin typeface="Calibri"/>
              </a:rPr>
              <a:t>Comms: </a:t>
            </a:r>
            <a:r>
              <a:rPr sz="1000" b="0">
                <a:solidFill>
                  <a:srgbClr val="333333"/>
                </a:solidFill>
                <a:latin typeface="Calibri"/>
              </a:rPr>
              <a:t>XBee Pro S2C + Yagi GS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 b="1">
                <a:solidFill>
                  <a:srgbClr val="333333"/>
                </a:solidFill>
                <a:latin typeface="Calibri"/>
              </a:rPr>
              <a:t>Payload: </a:t>
            </a:r>
            <a:r>
              <a:rPr sz="1000" b="0">
                <a:solidFill>
                  <a:srgbClr val="333333"/>
                </a:solidFill>
                <a:latin typeface="Calibri"/>
              </a:rPr>
              <a:t>6-sensor suite + full-flight cam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 b="1">
                <a:solidFill>
                  <a:srgbClr val="333333"/>
                </a:solidFill>
                <a:latin typeface="Calibri"/>
              </a:rPr>
              <a:t>Nav: </a:t>
            </a:r>
            <a:r>
              <a:rPr sz="1000" b="0">
                <a:solidFill>
                  <a:srgbClr val="333333"/>
                </a:solidFill>
                <a:latin typeface="Calibri"/>
              </a:rPr>
              <a:t>NavIC + targeted landing</a:t>
            </a:r>
          </a:p>
        </p:txBody>
      </p:sp>
    </p:spTree>
    <p:extLst>
      <p:ext uri="{BB962C8B-B14F-4D97-AF65-F5344CB8AC3E}">
        <p14:creationId xmlns:p14="http://schemas.microsoft.com/office/powerpoint/2010/main" val="1327163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1132" y="6156972"/>
            <a:ext cx="1940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LOGO/NAME</a:t>
            </a:r>
            <a:endParaRPr lang="en-IN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-14002" y="793810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14002" y="5971407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2122004" y="6356350"/>
            <a:ext cx="7598466" cy="365125"/>
          </a:xfrm>
        </p:spPr>
        <p:txBody>
          <a:bodyPr/>
          <a:lstStyle/>
          <a:p>
            <a:r>
              <a:rPr lang="en-US" b="1" dirty="0"/>
              <a:t>IN-</a:t>
            </a:r>
            <a:r>
              <a:rPr lang="en-US" b="1" dirty="0" err="1"/>
              <a:t>SPACe</a:t>
            </a:r>
            <a:r>
              <a:rPr lang="en-US" b="1" dirty="0"/>
              <a:t> Model Rocketry/CAN-7USAT India Student Competition 2026</a:t>
            </a:r>
            <a:r>
              <a:rPr lang="en-IN" b="1" dirty="0"/>
              <a:t>:</a:t>
            </a:r>
            <a:r>
              <a:rPr lang="en-US" b="1" dirty="0"/>
              <a:t>: Team Name</a:t>
            </a:r>
            <a:endParaRPr lang="en-IN" b="1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99CB0-4C32-4B68-A389-FCE520BC031C}" type="slidenum">
              <a:rPr lang="en-IN" smtClean="0"/>
              <a:t>2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07C18-D818-35FC-582D-329FFCE301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179" y="136525"/>
            <a:ext cx="2329641" cy="577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0548FD-DFA7-4E15-ACFB-F05CE31AF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024" y="6031161"/>
            <a:ext cx="1463976" cy="823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9582ED6-FD28-4BEA-BF0E-D99FA952DE79}"/>
              </a:ext>
            </a:extLst>
          </p:cNvPr>
          <p:cNvSpPr txBox="1"/>
          <p:nvPr/>
        </p:nvSpPr>
        <p:spPr>
          <a:xfrm>
            <a:off x="-14002" y="886593"/>
            <a:ext cx="12206002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Design of subsystems including ground systems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11480" y="1517904"/>
            <a:ext cx="5440680" cy="4224528"/>
          </a:xfrm>
          <a:prstGeom prst="rect">
            <a:avLst/>
          </a:prstGeom>
          <a:solidFill>
            <a:srgbClr val="F4F8FD"/>
          </a:solidFill>
          <a:ln w="12700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66928" y="1627631"/>
            <a:ext cx="5120640" cy="329184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6" y="1627631"/>
            <a:ext cx="5084064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MECHANICAL &amp;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2084831"/>
            <a:ext cx="5074920" cy="34747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• </a:t>
            </a:r>
            <a:r>
              <a:rPr sz="1100" b="1">
                <a:solidFill>
                  <a:srgbClr val="333333"/>
                </a:solidFill>
                <a:latin typeface="Calibri"/>
              </a:rPr>
              <a:t>Shell: </a:t>
            </a:r>
            <a:r>
              <a:rPr sz="1100" b="0">
                <a:solidFill>
                  <a:srgbClr val="333333"/>
                </a:solidFill>
                <a:latin typeface="Calibri"/>
              </a:rPr>
              <a:t>vacuum-bagged E-Glass/epoxy sandwich — RF-transparent (carbon prohibited).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• </a:t>
            </a:r>
            <a:r>
              <a:rPr sz="1100" b="1">
                <a:solidFill>
                  <a:srgbClr val="333333"/>
                </a:solidFill>
                <a:latin typeface="Calibri"/>
              </a:rPr>
              <a:t>Bulkheads: </a:t>
            </a:r>
            <a:r>
              <a:rPr sz="1100" b="0">
                <a:solidFill>
                  <a:srgbClr val="333333"/>
                </a:solidFill>
                <a:latin typeface="Calibri"/>
              </a:rPr>
              <a:t>7 PLA+ rings screwed to shell; all PCBs hard-mounted on M3 standoffs.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• </a:t>
            </a:r>
            <a:r>
              <a:rPr sz="1100" b="1">
                <a:solidFill>
                  <a:srgbClr val="333333"/>
                </a:solidFill>
                <a:latin typeface="Calibri"/>
              </a:rPr>
              <a:t>Loads: </a:t>
            </a:r>
            <a:r>
              <a:rPr sz="1100" b="0">
                <a:solidFill>
                  <a:srgbClr val="333333"/>
                </a:solidFill>
                <a:latin typeface="Calibri"/>
              </a:rPr>
              <a:t>designed for 15 G sustained + 30 G shock (vibration + drop verified).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• </a:t>
            </a:r>
            <a:r>
              <a:rPr sz="1100" b="1">
                <a:solidFill>
                  <a:srgbClr val="333333"/>
                </a:solidFill>
                <a:latin typeface="Calibri"/>
              </a:rPr>
              <a:t>Thermal: </a:t>
            </a:r>
            <a:r>
              <a:rPr sz="1100" b="0">
                <a:solidFill>
                  <a:srgbClr val="333333"/>
                </a:solidFill>
                <a:latin typeface="Calibri"/>
              </a:rPr>
              <a:t>heated-gas bay isolated from precision baro/CO2 sensors.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• </a:t>
            </a:r>
            <a:r>
              <a:rPr sz="1100" b="1">
                <a:solidFill>
                  <a:srgbClr val="333333"/>
                </a:solidFill>
                <a:latin typeface="Calibri"/>
              </a:rPr>
              <a:t>Airflow: </a:t>
            </a:r>
            <a:r>
              <a:rPr sz="1100" b="0">
                <a:solidFill>
                  <a:srgbClr val="333333"/>
                </a:solidFill>
                <a:latin typeface="Calibri"/>
              </a:rPr>
              <a:t>ducted inlet/outlet for PM sensor; mesh-screened gas vents.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E75B6"/>
                </a:solidFill>
                <a:latin typeface="Calibri"/>
              </a:rPr>
              <a:t>• </a:t>
            </a:r>
            <a:r>
              <a:rPr sz="1100" b="1">
                <a:solidFill>
                  <a:srgbClr val="333333"/>
                </a:solidFill>
                <a:latin typeface="Calibri"/>
              </a:rPr>
              <a:t>Recovery aid: </a:t>
            </a:r>
            <a:r>
              <a:rPr sz="1100" b="0">
                <a:solidFill>
                  <a:srgbClr val="333333"/>
                </a:solidFill>
                <a:latin typeface="Calibri"/>
              </a:rPr>
              <a:t>fluorescent orange body + Indian flag + tri-lingual labels + 95 dB beacon.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517904"/>
            <a:ext cx="5788152" cy="4224528"/>
          </a:xfrm>
          <a:prstGeom prst="rect">
            <a:avLst/>
          </a:prstGeom>
          <a:solidFill>
            <a:srgbClr val="F4FBF6"/>
          </a:solidFill>
          <a:ln w="12700"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44768" y="1627631"/>
            <a:ext cx="5486400" cy="329184"/>
          </a:xfrm>
          <a:prstGeom prst="roundRect">
            <a:avLst>
              <a:gd name="adj" fmla="val 6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63055" y="1627631"/>
            <a:ext cx="5449824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DESCENT, STABILISATION &amp; TARGETED LANDING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2084831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36207" y="2130551"/>
            <a:ext cx="53035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75B6"/>
                </a:solidFill>
                <a:latin typeface="Calibri"/>
              </a:rPr>
              <a:t>Stage 1 — Drogue (passive)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7" y="2395727"/>
            <a:ext cx="530352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~20 cm; drag-deploys at ejection; pre-tied to body, NO mechanism; ~20 m/s.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2944368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36207" y="2990087"/>
            <a:ext cx="53035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43"/>
                </a:solidFill>
                <a:latin typeface="Calibri"/>
              </a:rPr>
              <a:t>Stage 2 — GPS-guided steerable main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7" y="3255263"/>
            <a:ext cx="530352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~2.0 m cruciform; release @600 m; 1-3 m/s; 2 winch servos steer to launch pad.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3803904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E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36207" y="3849624"/>
            <a:ext cx="530352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6B7A"/>
                </a:solidFill>
                <a:latin typeface="Calibri"/>
              </a:rPr>
              <a:t>Mechanical gyro — Momentum wheel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7" y="4114800"/>
            <a:ext cx="530352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Calibri"/>
              </a:rPr>
              <a:t>Brass wheel on yaw axis, coreless motor, 6-10k RPM; Hall RPM telemetered.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4681728"/>
            <a:ext cx="5486400" cy="237744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B5394"/>
                </a:solidFill>
                <a:latin typeface="Calibri"/>
              </a:rPr>
              <a:t>Sequence: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4937760"/>
            <a:ext cx="1243584" cy="4572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44768" y="4937760"/>
            <a:ext cx="1243584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80" b="1" i="0">
                <a:solidFill>
                  <a:srgbClr val="0B5394"/>
                </a:solidFill>
                <a:latin typeface="Calibri"/>
              </a:rPr>
              <a:t>Eject 1000m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1776" y="4937760"/>
            <a:ext cx="18288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7A43"/>
                </a:solidFill>
                <a:latin typeface="Calibri"/>
              </a:rPr>
              <a:t>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34656" y="4937760"/>
            <a:ext cx="1243584" cy="4572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34656" y="4937760"/>
            <a:ext cx="1243584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80" b="1" i="0">
                <a:solidFill>
                  <a:srgbClr val="0B5394"/>
                </a:solidFill>
                <a:latin typeface="Calibri"/>
              </a:rPr>
              <a:t>Drogue 20 m/s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41664" y="4937760"/>
            <a:ext cx="18288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7A43"/>
                </a:solidFill>
                <a:latin typeface="Calibri"/>
              </a:rPr>
              <a:t>&gt;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24544" y="4937760"/>
            <a:ext cx="1243584" cy="4572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24544" y="4937760"/>
            <a:ext cx="1243584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80" b="1" i="0">
                <a:solidFill>
                  <a:srgbClr val="0B5394"/>
                </a:solidFill>
                <a:latin typeface="Calibri"/>
              </a:rPr>
              <a:t>Steer @600m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31552" y="4937760"/>
            <a:ext cx="182880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7A43"/>
                </a:solidFill>
                <a:latin typeface="Calibri"/>
              </a:rPr>
              <a:t>&gt;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314432" y="4937760"/>
            <a:ext cx="1243584" cy="4572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14432" y="4937760"/>
            <a:ext cx="1243584" cy="45720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80" b="1" i="0">
                <a:solidFill>
                  <a:srgbClr val="0B5394"/>
                </a:solidFill>
                <a:latin typeface="Calibri"/>
              </a:rPr>
              <a:t>Flare + land</a:t>
            </a:r>
          </a:p>
        </p:txBody>
      </p:sp>
    </p:spTree>
    <p:extLst>
      <p:ext uri="{BB962C8B-B14F-4D97-AF65-F5344CB8AC3E}">
        <p14:creationId xmlns:p14="http://schemas.microsoft.com/office/powerpoint/2010/main" val="2828849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1132" y="6156972"/>
            <a:ext cx="1940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LOGO/NAME</a:t>
            </a:r>
            <a:endParaRPr lang="en-IN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-14002" y="793810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14002" y="5971407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2122004" y="6356350"/>
            <a:ext cx="7598466" cy="365125"/>
          </a:xfrm>
        </p:spPr>
        <p:txBody>
          <a:bodyPr/>
          <a:lstStyle/>
          <a:p>
            <a:r>
              <a:rPr lang="en-US" b="1" dirty="0"/>
              <a:t>IN-</a:t>
            </a:r>
            <a:r>
              <a:rPr lang="en-US" b="1" dirty="0" err="1"/>
              <a:t>SPACe</a:t>
            </a:r>
            <a:r>
              <a:rPr lang="en-US" b="1" dirty="0"/>
              <a:t> Model Rocketry/CAN-7USAT India Student Competition 2026</a:t>
            </a:r>
            <a:r>
              <a:rPr lang="en-IN" b="1" dirty="0"/>
              <a:t>:</a:t>
            </a:r>
            <a:r>
              <a:rPr lang="en-US" b="1" dirty="0"/>
              <a:t>: Team Name</a:t>
            </a:r>
            <a:endParaRPr lang="en-IN" b="1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99CB0-4C32-4B68-A389-FCE520BC031C}" type="slidenum">
              <a:rPr lang="en-IN" smtClean="0"/>
              <a:t>3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07C18-D818-35FC-582D-329FFCE301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179" y="136525"/>
            <a:ext cx="2329641" cy="577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0548FD-DFA7-4E15-ACFB-F05CE31AF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024" y="6031161"/>
            <a:ext cx="1463976" cy="8234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06DED3-75D8-45CC-B8F9-F88872340638}"/>
              </a:ext>
            </a:extLst>
          </p:cNvPr>
          <p:cNvSpPr txBox="1"/>
          <p:nvPr/>
        </p:nvSpPr>
        <p:spPr>
          <a:xfrm>
            <a:off x="-14002" y="886593"/>
            <a:ext cx="12206002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Design of subsystems including ground systems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411480" y="1517904"/>
            <a:ext cx="7223760" cy="329184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1517904"/>
            <a:ext cx="7187184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SENSOR &amp; PAYLOAD SUBSYSTEM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11480" y="1938528"/>
          <a:ext cx="7223760" cy="3904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Calibri"/>
                        </a:rPr>
                        <a:t>Measures</a:t>
                      </a:r>
                    </a:p>
                  </a:txBody>
                  <a:tcPr marL="54864" marR="45720" marT="13716" marB="13716" anchor="ctr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Calibri"/>
                        </a:rPr>
                        <a:t>Sensor</a:t>
                      </a:r>
                    </a:p>
                  </a:txBody>
                  <a:tcPr marL="54864" marR="45720" marT="13716" marB="13716" anchor="ctr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54864" marR="45720" marT="13716" marB="13716" anchor="ctr"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333333"/>
                          </a:solidFill>
                          <a:latin typeface="Calibri"/>
                        </a:rPr>
                        <a:t>Altitude/Pressure/Temp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BMP390 (I2C)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Mandatory — precision altimeter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333333"/>
                          </a:solidFill>
                          <a:latin typeface="Calibri"/>
                        </a:rPr>
                        <a:t>Orientation/Accel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BNO055 (I2C)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Mandatory — on-chip fusion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333333"/>
                          </a:solidFill>
                          <a:latin typeface="Calibri"/>
                        </a:rPr>
                        <a:t>Gyro spin rate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A3144 Hall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Mandatory — wheel RPM (field 14)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333333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NavIC GNSS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Mandatory + NavIC bonus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333333"/>
                          </a:solidFill>
                          <a:latin typeface="Calibri"/>
                        </a:rPr>
                        <a:t>Power status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Divider-&gt;ADC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Mandatory — bus voltage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333333"/>
                          </a:solidFill>
                          <a:latin typeface="Calibri"/>
                        </a:rPr>
                        <a:t>VOC/humidity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BME688 (I2C)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Air-quality baseline / smog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333333"/>
                          </a:solidFill>
                          <a:latin typeface="Calibri"/>
                        </a:rPr>
                        <a:t>NO2 + CO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MiCS-4514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Vehicle-exhaust tracer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333333"/>
                          </a:solidFill>
                          <a:latin typeface="Calibri"/>
                        </a:rPr>
                        <a:t>PM1.0/2.5/10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SPS30 (I2C)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Haze, soot, wildfire ash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333333"/>
                          </a:solidFill>
                          <a:latin typeface="Calibri"/>
                        </a:rPr>
                        <a:t>CO2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SCD41 (I2C)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Combustion / greenhouse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333333"/>
                          </a:solidFill>
                          <a:latin typeface="Calibri"/>
                        </a:rPr>
                        <a:t>NH3 + benzene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MQ-135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Industrial / agri off-gassing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333333"/>
                          </a:solidFill>
                          <a:latin typeface="Calibri"/>
                        </a:rPr>
                        <a:t>UV irradiance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GUVA-S12SD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UV vs altitude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333333"/>
                          </a:solidFill>
                          <a:latin typeface="Calibri"/>
                        </a:rPr>
                        <a:t>UTC time / logging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DS3231 RTC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Battery-backed clock + SD timestamps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/>
                      <a:r>
                        <a:rPr sz="869" b="1">
                          <a:solidFill>
                            <a:srgbClr val="333333"/>
                          </a:solidFill>
                          <a:latin typeface="Calibri"/>
                        </a:rPr>
                        <a:t>Imaging (opt iii)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Action camera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9" b="0">
                          <a:solidFill>
                            <a:srgbClr val="333333"/>
                          </a:solidFill>
                          <a:latin typeface="Calibri"/>
                        </a:rPr>
                        <a:t>Full-flight video to own microSD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7818120" y="1517904"/>
            <a:ext cx="3959352" cy="4224528"/>
          </a:xfrm>
          <a:prstGeom prst="rect">
            <a:avLst/>
          </a:prstGeom>
          <a:solidFill>
            <a:srgbClr val="F4F8FD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973568" y="1627631"/>
            <a:ext cx="3657600" cy="329184"/>
          </a:xfrm>
          <a:prstGeom prst="roundRect">
            <a:avLst>
              <a:gd name="adj" fmla="val 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91856" y="1627631"/>
            <a:ext cx="3621024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COMM &amp; DATA HANDLING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2084831"/>
            <a:ext cx="3611880" cy="35661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</a:t>
            </a:r>
            <a:r>
              <a:rPr sz="1050" b="1">
                <a:solidFill>
                  <a:srgbClr val="333333"/>
                </a:solidFill>
                <a:latin typeface="Calibri"/>
              </a:rPr>
              <a:t>Radio: </a:t>
            </a:r>
            <a:r>
              <a:rPr sz="1050" b="0">
                <a:solidFill>
                  <a:srgbClr val="333333"/>
                </a:solidFill>
                <a:latin typeface="Calibri"/>
              </a:rPr>
              <a:t>XBee Pro S2C, 2.4 GHz, point-to-point (no broadcast); PANID = team no.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</a:t>
            </a:r>
            <a:r>
              <a:rPr sz="1050" b="1">
                <a:solidFill>
                  <a:srgbClr val="333333"/>
                </a:solidFill>
                <a:latin typeface="Calibri"/>
              </a:rPr>
              <a:t>Onboard antenna: </a:t>
            </a:r>
            <a:r>
              <a:rPr sz="1050" b="0">
                <a:solidFill>
                  <a:srgbClr val="333333"/>
                </a:solidFill>
                <a:latin typeface="Calibri"/>
              </a:rPr>
              <a:t>1/4-wave whip along body axis (omnidirectional).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</a:t>
            </a:r>
            <a:r>
              <a:rPr sz="1050" b="1">
                <a:solidFill>
                  <a:srgbClr val="333333"/>
                </a:solidFill>
                <a:latin typeface="Calibri"/>
              </a:rPr>
              <a:t>Ground antenna: </a:t>
            </a:r>
            <a:r>
              <a:rPr sz="1050" b="0">
                <a:solidFill>
                  <a:srgbClr val="333333"/>
                </a:solidFill>
                <a:latin typeface="Calibri"/>
              </a:rPr>
              <a:t>Yagi-Uda (10-14 dBi) on tripod, polarization-aligned.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</a:t>
            </a:r>
            <a:r>
              <a:rPr sz="1050" b="1">
                <a:solidFill>
                  <a:srgbClr val="333333"/>
                </a:solidFill>
                <a:latin typeface="Calibri"/>
              </a:rPr>
              <a:t>Processor: </a:t>
            </a:r>
            <a:r>
              <a:rPr sz="1050" b="0">
                <a:solidFill>
                  <a:srgbClr val="333333"/>
                </a:solidFill>
                <a:latin typeface="Calibri"/>
              </a:rPr>
              <a:t>ESP32 (240 MHz); boot &lt; 2 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</a:t>
            </a:r>
            <a:r>
              <a:rPr sz="1050" b="1">
                <a:solidFill>
                  <a:srgbClr val="333333"/>
                </a:solidFill>
                <a:latin typeface="Calibri"/>
              </a:rPr>
              <a:t>Backup: </a:t>
            </a:r>
            <a:r>
              <a:rPr sz="1050" b="0">
                <a:solidFill>
                  <a:srgbClr val="333333"/>
                </a:solidFill>
                <a:latin typeface="Calibri"/>
              </a:rPr>
              <a:t>MicroSD logs identical CSV on link loss.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</a:t>
            </a:r>
            <a:r>
              <a:rPr sz="1050" b="1">
                <a:solidFill>
                  <a:srgbClr val="333333"/>
                </a:solidFill>
                <a:latin typeface="Calibri"/>
              </a:rPr>
              <a:t>Clock: </a:t>
            </a:r>
            <a:r>
              <a:rPr sz="1050" b="0">
                <a:solidFill>
                  <a:srgbClr val="333333"/>
                </a:solidFill>
                <a:latin typeface="Calibri"/>
              </a:rPr>
              <a:t>mission time persisted to flash — survives reset.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</a:t>
            </a:r>
            <a:r>
              <a:rPr sz="1050" b="1">
                <a:solidFill>
                  <a:srgbClr val="333333"/>
                </a:solidFill>
                <a:latin typeface="Calibri"/>
              </a:rPr>
              <a:t>Format: </a:t>
            </a:r>
            <a:r>
              <a:rPr sz="1050" b="0">
                <a:solidFill>
                  <a:srgbClr val="333333"/>
                </a:solidFill>
                <a:latin typeface="Calibri"/>
              </a:rPr>
              <a:t>ASCII CSV + carriage return, &gt;=1 Hz.</a:t>
            </a:r>
          </a:p>
        </p:txBody>
      </p:sp>
    </p:spTree>
    <p:extLst>
      <p:ext uri="{BB962C8B-B14F-4D97-AF65-F5344CB8AC3E}">
        <p14:creationId xmlns:p14="http://schemas.microsoft.com/office/powerpoint/2010/main" val="1353436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1132" y="6156972"/>
            <a:ext cx="1940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LOGO/NAME</a:t>
            </a:r>
            <a:endParaRPr lang="en-IN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-14002" y="793810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14002" y="5971407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2122004" y="6356350"/>
            <a:ext cx="7598466" cy="365125"/>
          </a:xfrm>
        </p:spPr>
        <p:txBody>
          <a:bodyPr/>
          <a:lstStyle/>
          <a:p>
            <a:r>
              <a:rPr lang="en-US" b="1" dirty="0"/>
              <a:t>IN-</a:t>
            </a:r>
            <a:r>
              <a:rPr lang="en-US" b="1" dirty="0" err="1"/>
              <a:t>SPACe</a:t>
            </a:r>
            <a:r>
              <a:rPr lang="en-US" b="1" dirty="0"/>
              <a:t> Model Rocketry/CAN-7USAT India Student Competition 2026</a:t>
            </a:r>
            <a:r>
              <a:rPr lang="en-IN" b="1" dirty="0"/>
              <a:t>:</a:t>
            </a:r>
            <a:r>
              <a:rPr lang="en-US" b="1" dirty="0"/>
              <a:t>: Team Name</a:t>
            </a:r>
            <a:endParaRPr lang="en-IN" b="1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99CB0-4C32-4B68-A389-FCE520BC031C}" type="slidenum">
              <a:rPr lang="en-IN" smtClean="0"/>
              <a:t>4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07C18-D818-35FC-582D-329FFCE301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179" y="136525"/>
            <a:ext cx="2329641" cy="577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0548FD-DFA7-4E15-ACFB-F05CE31AF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024" y="6031161"/>
            <a:ext cx="1463976" cy="823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C0E37D6-30A4-4570-AB4D-4D3AC880EDA6}"/>
              </a:ext>
            </a:extLst>
          </p:cNvPr>
          <p:cNvSpPr txBox="1"/>
          <p:nvPr/>
        </p:nvSpPr>
        <p:spPr>
          <a:xfrm>
            <a:off x="-14002" y="886593"/>
            <a:ext cx="12206002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Components and hardware realization </a:t>
            </a: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plan</a:t>
            </a:r>
            <a:endParaRPr lang="en-U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11480" y="1517904"/>
            <a:ext cx="5669280" cy="329184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1517904"/>
            <a:ext cx="5632704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BILL OF MATERIALS (summary)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11480" y="1938528"/>
          <a:ext cx="5669280" cy="2523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54864" marR="45720" marT="13716" marB="13716" anchor="ctr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Calibri"/>
                        </a:rPr>
                        <a:t>Rs.</a:t>
                      </a:r>
                    </a:p>
                  </a:txBody>
                  <a:tcPr marL="54864" marR="45720" marT="13716" marB="13716" anchor="ctr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54864" marR="45720" marT="13716" marB="13716" anchor="ctr"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333333"/>
                          </a:solidFill>
                          <a:latin typeface="Calibri"/>
                        </a:rPr>
                        <a:t>Core electronics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333333"/>
                          </a:solidFill>
                          <a:latin typeface="Calibri"/>
                        </a:rPr>
                        <a:t>13,720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333333"/>
                          </a:solidFill>
                          <a:latin typeface="Calibri"/>
                        </a:rPr>
                        <a:t>ESP32, BMP390, BNO055, NavIC, XBee, SD, power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333333"/>
                          </a:solidFill>
                          <a:latin typeface="Calibri"/>
                        </a:rPr>
                        <a:t>Atmospheric payload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333333"/>
                          </a:solidFill>
                          <a:latin typeface="Calibri"/>
                        </a:rPr>
                        <a:t>10,050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333333"/>
                          </a:solidFill>
                          <a:latin typeface="Calibri"/>
                        </a:rPr>
                        <a:t>BME688, MiCS-4514, SPS30, SCD41, MQ-135, UV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333333"/>
                          </a:solidFill>
                          <a:latin typeface="Calibri"/>
                        </a:rPr>
                        <a:t>Mechanical + structure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333333"/>
                          </a:solidFill>
                          <a:latin typeface="Calibri"/>
                        </a:rPr>
                        <a:t>11,728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333333"/>
                          </a:solidFill>
                          <a:latin typeface="Calibri"/>
                        </a:rPr>
                        <a:t>Wheel, parachutes, fiberglass, PLA, layup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333333"/>
                          </a:solidFill>
                          <a:latin typeface="Calibri"/>
                        </a:rPr>
                        <a:t>Contingency (15%)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333333"/>
                          </a:solidFill>
                          <a:latin typeface="Calibri"/>
                        </a:rPr>
                        <a:t>5,325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333333"/>
                          </a:solidFill>
                          <a:latin typeface="Calibri"/>
                        </a:rPr>
                        <a:t>Spares + testing consumables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333333"/>
                          </a:solidFill>
                          <a:latin typeface="Calibri"/>
                        </a:rPr>
                        <a:t>TOTAL BUILD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333333"/>
                          </a:solidFill>
                          <a:latin typeface="Calibri"/>
                        </a:rPr>
                        <a:t>40,823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333333"/>
                          </a:solidFill>
                          <a:latin typeface="Calibri"/>
                        </a:rPr>
                        <a:t>Within Rs. 1,00,000 cap (41%)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6309360" y="1517904"/>
            <a:ext cx="5468112" cy="2011680"/>
          </a:xfrm>
          <a:prstGeom prst="rect">
            <a:avLst/>
          </a:prstGeom>
          <a:solidFill>
            <a:srgbClr val="F4F8FD"/>
          </a:solidFill>
          <a:ln w="12700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64808" y="1627631"/>
            <a:ext cx="5157216" cy="329184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83096" y="1627631"/>
            <a:ext cx="512064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FABRICATION &amp; REALIZATION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2066543"/>
            <a:ext cx="5120640" cy="1371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>
                <a:solidFill>
                  <a:srgbClr val="333333"/>
                </a:solidFill>
                <a:latin typeface="Calibri"/>
              </a:rPr>
              <a:t>3D-print mandrel -&gt; wet layup E-Glass + foam -&gt; vacuum cure -&gt; trim, drill vents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>
                <a:solidFill>
                  <a:srgbClr val="333333"/>
                </a:solidFill>
                <a:latin typeface="Calibri"/>
              </a:rPr>
              <a:t>Custom 2-layer PCB (JLCPCB) -&gt; solder + bench-test before mounting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>
                <a:solidFill>
                  <a:srgbClr val="333333"/>
                </a:solidFill>
                <a:latin typeface="Calibri"/>
              </a:rPr>
              <a:t>Machine brass wheel; assemble on bearings; balance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>
                <a:solidFill>
                  <a:srgbClr val="333333"/>
                </a:solidFill>
                <a:latin typeface="Calibri"/>
              </a:rPr>
              <a:t>Bottom-up bay integration; fit-check at each stage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657600"/>
            <a:ext cx="5468112" cy="2084831"/>
          </a:xfrm>
          <a:prstGeom prst="rect">
            <a:avLst/>
          </a:prstGeom>
          <a:solidFill>
            <a:srgbClr val="E6F4EA"/>
          </a:solidFill>
          <a:ln w="12700"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64808" y="3767328"/>
            <a:ext cx="5157216" cy="329184"/>
          </a:xfrm>
          <a:prstGeom prst="roundRect">
            <a:avLst>
              <a:gd name="adj" fmla="val 6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83096" y="3767328"/>
            <a:ext cx="512064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PROCUREMENT &amp; MADE-IN-INDIA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4" y="4206240"/>
            <a:ext cx="5120640" cy="1463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 b="1">
                <a:solidFill>
                  <a:srgbClr val="333333"/>
                </a:solidFill>
                <a:latin typeface="Calibri"/>
              </a:rPr>
              <a:t>Long-lead first: </a:t>
            </a:r>
            <a:r>
              <a:rPr sz="1000" b="0">
                <a:solidFill>
                  <a:srgbClr val="333333"/>
                </a:solidFill>
                <a:latin typeface="Calibri"/>
              </a:rPr>
              <a:t>order SPS30 / SCD41 / MiCS early (import lead times).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 b="1">
                <a:solidFill>
                  <a:srgbClr val="333333"/>
                </a:solidFill>
                <a:latin typeface="Calibri"/>
              </a:rPr>
              <a:t>Burn-in: </a:t>
            </a:r>
            <a:r>
              <a:rPr sz="1000" b="0">
                <a:solidFill>
                  <a:srgbClr val="333333"/>
                </a:solidFill>
                <a:latin typeface="Calibri"/>
              </a:rPr>
              <a:t>start MQ-135 / MiCS 24-48 h on arrival.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 b="1">
                <a:solidFill>
                  <a:srgbClr val="333333"/>
                </a:solidFill>
                <a:latin typeface="Calibri"/>
              </a:rPr>
              <a:t>Made-in-India: </a:t>
            </a:r>
            <a:r>
              <a:rPr sz="1000" b="0">
                <a:solidFill>
                  <a:srgbClr val="333333"/>
                </a:solidFill>
                <a:latin typeface="Calibri"/>
              </a:rPr>
              <a:t>structure, PCB, battery, mechanics India-sourced for weightage.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 b="1">
                <a:solidFill>
                  <a:srgbClr val="333333"/>
                </a:solidFill>
                <a:latin typeface="Calibri"/>
              </a:rPr>
              <a:t>Tradeoff: </a:t>
            </a:r>
            <a:r>
              <a:rPr sz="1000" b="0">
                <a:solidFill>
                  <a:srgbClr val="333333"/>
                </a:solidFill>
                <a:latin typeface="Calibri"/>
              </a:rPr>
              <a:t>payload sensors are imports (science-bonus tradeoff).</a:t>
            </a:r>
          </a:p>
        </p:txBody>
      </p:sp>
    </p:spTree>
    <p:extLst>
      <p:ext uri="{BB962C8B-B14F-4D97-AF65-F5344CB8AC3E}">
        <p14:creationId xmlns:p14="http://schemas.microsoft.com/office/powerpoint/2010/main" val="3634168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1132" y="6156972"/>
            <a:ext cx="1940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LOGO/NAME</a:t>
            </a:r>
            <a:endParaRPr lang="en-IN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-14002" y="793810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14002" y="5971407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2122004" y="6356350"/>
            <a:ext cx="7598466" cy="365125"/>
          </a:xfrm>
        </p:spPr>
        <p:txBody>
          <a:bodyPr/>
          <a:lstStyle/>
          <a:p>
            <a:r>
              <a:rPr lang="en-US" b="1" dirty="0"/>
              <a:t>IN-</a:t>
            </a:r>
            <a:r>
              <a:rPr lang="en-US" b="1" dirty="0" err="1"/>
              <a:t>SPACe</a:t>
            </a:r>
            <a:r>
              <a:rPr lang="en-US" b="1" dirty="0"/>
              <a:t> Model Rocketry/CAN-7USAT India Student Competition 2026</a:t>
            </a:r>
            <a:r>
              <a:rPr lang="en-IN" b="1" dirty="0"/>
              <a:t>:</a:t>
            </a:r>
            <a:r>
              <a:rPr lang="en-US" b="1" dirty="0"/>
              <a:t>: Team Name</a:t>
            </a:r>
            <a:endParaRPr lang="en-IN" b="1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99CB0-4C32-4B68-A389-FCE520BC031C}" type="slidenum">
              <a:rPr lang="en-IN" smtClean="0"/>
              <a:t>5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07C18-D818-35FC-582D-329FFCE301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179" y="136525"/>
            <a:ext cx="2329641" cy="577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0548FD-DFA7-4E15-ACFB-F05CE31AF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024" y="6031161"/>
            <a:ext cx="1463976" cy="8234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4CF7CA4-2783-4ABD-BE96-058EFD961A52}"/>
              </a:ext>
            </a:extLst>
          </p:cNvPr>
          <p:cNvSpPr txBox="1"/>
          <p:nvPr/>
        </p:nvSpPr>
        <p:spPr>
          <a:xfrm>
            <a:off x="-14002" y="886593"/>
            <a:ext cx="12206002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Tests undertaken and results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411480" y="1517904"/>
            <a:ext cx="11365992" cy="329184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1517904"/>
            <a:ext cx="11329416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TEST MATRIX  (results filled as tests complete)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11480" y="1938528"/>
          <a:ext cx="11365992" cy="3895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54864" marR="45720" marT="13716" marB="13716" anchor="ctr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45720" marT="13716" marB="13716" anchor="ctr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Calibri"/>
                        </a:rPr>
                        <a:t>Pass Criteria</a:t>
                      </a:r>
                    </a:p>
                  </a:txBody>
                  <a:tcPr marL="54864" marR="45720" marT="13716" marB="13716" anchor="ctr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45720" marT="13716" marB="13716" anchor="ctr"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333333"/>
                          </a:solidFill>
                          <a:latin typeface="Calibri"/>
                        </a:rPr>
                        <a:t>Sensor / payload bench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Power up; read all 11 sensors 10 min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Valid data; no bus errors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[ fill ]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333333"/>
                          </a:solidFill>
                          <a:latin typeface="Calibri"/>
                        </a:rPr>
                        <a:t>Gas calibration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Burn-in 24-48h; known-source exposure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Repeatable response curves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[ fill ]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333333"/>
                          </a:solidFill>
                          <a:latin typeface="Calibri"/>
                        </a:rPr>
                        <a:t>PM airflow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Smoke source via ducting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PM2.5 rises; stable fan flow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[ fill ]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333333"/>
                          </a:solidFill>
                          <a:latin typeface="Calibri"/>
                        </a:rPr>
                        <a:t>Thermal isolation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Run heaters; watch baro/CO2 temp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Precision drift &lt; 1 C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[ fill ]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333333"/>
                          </a:solidFill>
                          <a:latin typeface="Calibri"/>
                        </a:rPr>
                        <a:t>Power (heater-managed)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2h pad + warm-up + flight load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Endurance met on 1x 18650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[ fill ]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333333"/>
                          </a:solidFill>
                          <a:latin typeface="Calibri"/>
                        </a:rPr>
                        <a:t>Drop test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2 m onto mat on chute cord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No damage; TM continues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[ fill ]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333333"/>
                          </a:solidFill>
                          <a:latin typeface="Calibri"/>
                        </a:rPr>
                        <a:t>Vibration test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60 s launch-profile shake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No detachment (15G/30G)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[ fill ]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333333"/>
                          </a:solidFill>
                          <a:latin typeface="Calibri"/>
                        </a:rPr>
                        <a:t>Parachute deploy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Drogue drag x5; main servo x10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Reliable; no entanglement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[ fill ]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333333"/>
                          </a:solidFill>
                          <a:latin typeface="Calibri"/>
                        </a:rPr>
                        <a:t>Gyro wheel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Spin-up + Hall RPM; tilt body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Stable RPM; attitude stiffness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[ fill ]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333333"/>
                          </a:solidFill>
                          <a:latin typeface="Calibri"/>
                        </a:rPr>
                        <a:t>Full mission sim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SIM altitude profile via GS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All 8 states; full CSV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[ fill ]</a:t>
                      </a:r>
                    </a:p>
                  </a:txBody>
                  <a:tcPr marL="54864" marR="45720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333333"/>
                          </a:solidFill>
                          <a:latin typeface="Calibri"/>
                        </a:rPr>
                        <a:t>Comm range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TX from 1.5 km LOS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&gt;95% packets received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333333"/>
                          </a:solidFill>
                          <a:latin typeface="Calibri"/>
                        </a:rPr>
                        <a:t>[ fill ]</a:t>
                      </a:r>
                    </a:p>
                  </a:txBody>
                  <a:tcPr marL="54864" marR="45720" marT="13716" marB="13716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856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1132" y="6156972"/>
            <a:ext cx="1940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LOGO/NAME</a:t>
            </a:r>
            <a:endParaRPr lang="en-IN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-14002" y="793810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14002" y="5971407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2122004" y="6356350"/>
            <a:ext cx="7598466" cy="365125"/>
          </a:xfrm>
        </p:spPr>
        <p:txBody>
          <a:bodyPr/>
          <a:lstStyle/>
          <a:p>
            <a:r>
              <a:rPr lang="en-US" b="1" dirty="0"/>
              <a:t>IN-</a:t>
            </a:r>
            <a:r>
              <a:rPr lang="en-US" b="1" dirty="0" err="1"/>
              <a:t>SPACe</a:t>
            </a:r>
            <a:r>
              <a:rPr lang="en-US" b="1" dirty="0"/>
              <a:t> Model Rocketry/CAN-7USAT India Student Competition 2026</a:t>
            </a:r>
            <a:r>
              <a:rPr lang="en-IN" b="1" dirty="0"/>
              <a:t>:</a:t>
            </a:r>
            <a:r>
              <a:rPr lang="en-US" b="1" dirty="0"/>
              <a:t>: Team Name</a:t>
            </a:r>
            <a:endParaRPr lang="en-IN" b="1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99CB0-4C32-4B68-A389-FCE520BC031C}" type="slidenum">
              <a:rPr lang="en-IN" smtClean="0"/>
              <a:t>6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07C18-D818-35FC-582D-329FFCE301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179" y="136525"/>
            <a:ext cx="2329641" cy="577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0548FD-DFA7-4E15-ACFB-F05CE31AF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024" y="6031161"/>
            <a:ext cx="1463976" cy="8234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E56C06-BA58-4FF6-8872-C67BBF05F220}"/>
              </a:ext>
            </a:extLst>
          </p:cNvPr>
          <p:cNvSpPr txBox="1"/>
          <p:nvPr/>
        </p:nvSpPr>
        <p:spPr>
          <a:xfrm>
            <a:off x="-14002" y="886593"/>
            <a:ext cx="12206002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CANSAT/Model Rocket mission control software and ground systems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411480" y="1517904"/>
            <a:ext cx="11365992" cy="329184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1517904"/>
            <a:ext cx="11329416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FLIGHT SOFTWARE STATE MACHINE  (per Rule 6.2)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1975104"/>
            <a:ext cx="2615184" cy="512064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1975104"/>
            <a:ext cx="2615184" cy="5120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 BOOT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8376" y="1975104"/>
            <a:ext cx="219456" cy="5120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A5A5A"/>
                </a:solidFill>
                <a:latin typeface="Calibri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27832" y="1975104"/>
            <a:ext cx="2615184" cy="512064"/>
          </a:xfrm>
          <a:prstGeom prst="roundRect">
            <a:avLst>
              <a:gd name="adj" fmla="val 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27832" y="1975104"/>
            <a:ext cx="2615184" cy="5120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 TEST_MODE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1975104"/>
            <a:ext cx="219456" cy="5120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A5A5A"/>
                </a:solidFill>
                <a:latin typeface="Calibri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44184" y="1975104"/>
            <a:ext cx="2615184" cy="512064"/>
          </a:xfrm>
          <a:prstGeom prst="roundRect">
            <a:avLst>
              <a:gd name="adj" fmla="val 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44184" y="1975104"/>
            <a:ext cx="2615184" cy="5120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 LAUNCH_PAD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1975104"/>
            <a:ext cx="219456" cy="5120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A5A5A"/>
                </a:solidFill>
                <a:latin typeface="Calibri"/>
              </a:rP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0536" y="1975104"/>
            <a:ext cx="2615184" cy="512064"/>
          </a:xfrm>
          <a:prstGeom prst="roundRect">
            <a:avLst>
              <a:gd name="adj" fmla="val 6000"/>
            </a:avLst>
          </a:prstGeom>
          <a:solidFill>
            <a:srgbClr val="0E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0536" y="1975104"/>
            <a:ext cx="2615184" cy="5120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 ASCENT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2651760"/>
            <a:ext cx="2615184" cy="512064"/>
          </a:xfrm>
          <a:prstGeom prst="roundRect">
            <a:avLst>
              <a:gd name="adj" fmla="val 6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2651760"/>
            <a:ext cx="2615184" cy="5120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 ROCKET_DEPLOY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08376" y="2651760"/>
            <a:ext cx="219456" cy="5120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A5A5A"/>
                </a:solidFill>
                <a:latin typeface="Calibri"/>
              </a:rPr>
              <a:t>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27832" y="2651760"/>
            <a:ext cx="2615184" cy="512064"/>
          </a:xfrm>
          <a:prstGeom prst="roundRect">
            <a:avLst>
              <a:gd name="adj" fmla="val 6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27832" y="2651760"/>
            <a:ext cx="2615184" cy="5120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5 DESCENT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24728" y="2651760"/>
            <a:ext cx="219456" cy="5120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A5A5A"/>
                </a:solidFill>
                <a:latin typeface="Calibri"/>
              </a:rP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44184" y="2651760"/>
            <a:ext cx="2615184" cy="512064"/>
          </a:xfrm>
          <a:prstGeom prst="roundRect">
            <a:avLst>
              <a:gd name="adj" fmla="val 6000"/>
            </a:avLst>
          </a:prstGeom>
          <a:solidFill>
            <a:srgbClr val="B3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44184" y="2651760"/>
            <a:ext cx="2615184" cy="5120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6 AEROBREAK_REL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2651760"/>
            <a:ext cx="219456" cy="5120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A5A5A"/>
                </a:solidFill>
                <a:latin typeface="Calibri"/>
              </a:rPr>
              <a:t>&gt;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0536" y="2651760"/>
            <a:ext cx="2615184" cy="512064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860536" y="2651760"/>
            <a:ext cx="2615184" cy="51206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7 IMPACT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3346704"/>
            <a:ext cx="11365992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5A5A5A"/>
                </a:solidFill>
                <a:latin typeface="Calibri"/>
              </a:rPr>
              <a:t>Mission time + state persisted to flash (NVS) — restored on reset so the clock never restarts.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657600"/>
            <a:ext cx="5577840" cy="2084831"/>
          </a:xfrm>
          <a:prstGeom prst="rect">
            <a:avLst/>
          </a:prstGeom>
          <a:solidFill>
            <a:srgbClr val="F4F8FD"/>
          </a:solidFill>
          <a:ln w="12700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66928" y="3767328"/>
            <a:ext cx="5266944" cy="329184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5216" y="3767328"/>
            <a:ext cx="5230368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TELEMETRY (16 mandatory + payload)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" y="4206240"/>
            <a:ext cx="5212080" cy="1463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75B6"/>
                </a:solidFill>
                <a:latin typeface="Calibri"/>
              </a:rPr>
              <a:t>• </a:t>
            </a:r>
            <a:r>
              <a:rPr sz="950">
                <a:solidFill>
                  <a:srgbClr val="333333"/>
                </a:solidFill>
                <a:latin typeface="Calibri"/>
              </a:rPr>
              <a:t>ID, time, packet#, altitude, pressure, temp, voltage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75B6"/>
                </a:solidFill>
                <a:latin typeface="Calibri"/>
              </a:rPr>
              <a:t>• </a:t>
            </a:r>
            <a:r>
              <a:rPr sz="950">
                <a:solidFill>
                  <a:srgbClr val="333333"/>
                </a:solidFill>
                <a:latin typeface="Calibri"/>
              </a:rPr>
              <a:t>GNSS time/lat/lon/alt/sats, accel, gyro-RPM, state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75B6"/>
                </a:solidFill>
                <a:latin typeface="Calibri"/>
              </a:rPr>
              <a:t>• </a:t>
            </a:r>
            <a:r>
              <a:rPr sz="950" b="1">
                <a:solidFill>
                  <a:srgbClr val="333333"/>
                </a:solidFill>
                <a:latin typeface="Calibri"/>
              </a:rPr>
              <a:t>Appended payload: </a:t>
            </a:r>
            <a:r>
              <a:rPr sz="950" b="0">
                <a:solidFill>
                  <a:srgbClr val="333333"/>
                </a:solidFill>
                <a:latin typeface="Calibri"/>
              </a:rPr>
              <a:t>PM1/2.5/10, NO2, CO, CO2, NH3, VOC, UV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75B6"/>
                </a:solidFill>
                <a:latin typeface="Calibri"/>
              </a:rPr>
              <a:t>• </a:t>
            </a:r>
            <a:r>
              <a:rPr sz="950" b="1">
                <a:solidFill>
                  <a:srgbClr val="333333"/>
                </a:solidFill>
                <a:latin typeface="Calibri"/>
              </a:rPr>
              <a:t>Guidance + RTC: </a:t>
            </a:r>
            <a:r>
              <a:rPr sz="950" b="0">
                <a:solidFill>
                  <a:srgbClr val="333333"/>
                </a:solidFill>
                <a:latin typeface="Calibri"/>
              </a:rPr>
              <a:t>bearing, dist-to-pad, heading, UTC time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75B6"/>
                </a:solidFill>
                <a:latin typeface="Calibri"/>
              </a:rPr>
              <a:t>• </a:t>
            </a:r>
            <a:r>
              <a:rPr sz="950" b="1">
                <a:solidFill>
                  <a:srgbClr val="333333"/>
                </a:solidFill>
                <a:latin typeface="Calibri"/>
              </a:rPr>
              <a:t>File: </a:t>
            </a:r>
            <a:r>
              <a:rPr sz="950" b="0">
                <a:solidFill>
                  <a:srgbClr val="333333"/>
                </a:solidFill>
                <a:latin typeface="Calibri"/>
              </a:rPr>
              <a:t>Flight_&lt;TEAM_ID&gt;.csv, headers, &gt;=1 Hz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9632" y="3657600"/>
            <a:ext cx="5577840" cy="2084831"/>
          </a:xfrm>
          <a:prstGeom prst="rect">
            <a:avLst/>
          </a:prstGeom>
          <a:solidFill>
            <a:srgbClr val="E6F4EA"/>
          </a:solidFill>
          <a:ln w="12700"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355080" y="3767328"/>
            <a:ext cx="5266944" cy="329184"/>
          </a:xfrm>
          <a:prstGeom prst="roundRect">
            <a:avLst>
              <a:gd name="adj" fmla="val 6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73368" y="3767328"/>
            <a:ext cx="5230368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GROUND STATION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91656" y="4206240"/>
            <a:ext cx="5212080" cy="1463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 b="1">
                <a:solidFill>
                  <a:srgbClr val="333333"/>
                </a:solidFill>
                <a:latin typeface="Calibri"/>
              </a:rPr>
              <a:t>Software: </a:t>
            </a:r>
            <a:r>
              <a:rPr sz="1000" b="0">
                <a:solidFill>
                  <a:srgbClr val="333333"/>
                </a:solidFill>
                <a:latin typeface="Calibri"/>
              </a:rPr>
              <a:t>Python (PyQt5 + pyqtgraph), all fields plotted in SI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 b="1">
                <a:solidFill>
                  <a:srgbClr val="333333"/>
                </a:solidFill>
                <a:latin typeface="Calibri"/>
              </a:rPr>
              <a:t>Commands: </a:t>
            </a:r>
            <a:r>
              <a:rPr sz="1000" b="0">
                <a:solidFill>
                  <a:srgbClr val="333333"/>
                </a:solidFill>
                <a:latin typeface="Calibri"/>
              </a:rPr>
              <a:t>START/STOP TX, CAL, SET_WAYPOINT, HEATER, SIM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 b="1">
                <a:solidFill>
                  <a:srgbClr val="333333"/>
                </a:solidFill>
                <a:latin typeface="Calibri"/>
              </a:rPr>
              <a:t>Dashboard: </a:t>
            </a:r>
            <a:r>
              <a:rPr sz="1000" b="0">
                <a:solidFill>
                  <a:srgbClr val="333333"/>
                </a:solidFill>
                <a:latin typeface="Calibri"/>
              </a:rPr>
              <a:t>live pollutant-vs-altitude profiles + GNSS map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 b="1">
                <a:solidFill>
                  <a:srgbClr val="333333"/>
                </a:solidFill>
                <a:latin typeface="Calibri"/>
              </a:rPr>
              <a:t>Hardware: </a:t>
            </a:r>
            <a:r>
              <a:rPr sz="1000" b="0">
                <a:solidFill>
                  <a:srgbClr val="333333"/>
                </a:solidFill>
                <a:latin typeface="Calibri"/>
              </a:rPr>
              <a:t>laptop &gt;=2 h + XBee + Yagi on tripod</a:t>
            </a:r>
          </a:p>
        </p:txBody>
      </p:sp>
    </p:spTree>
    <p:extLst>
      <p:ext uri="{BB962C8B-B14F-4D97-AF65-F5344CB8AC3E}">
        <p14:creationId xmlns:p14="http://schemas.microsoft.com/office/powerpoint/2010/main" val="1829752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1132" y="6156972"/>
            <a:ext cx="1940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LOGO/NAME</a:t>
            </a:r>
            <a:endParaRPr lang="en-IN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-14002" y="793810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-14002" y="5971407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1994175" y="6356349"/>
            <a:ext cx="7598466" cy="365125"/>
          </a:xfrm>
        </p:spPr>
        <p:txBody>
          <a:bodyPr/>
          <a:lstStyle/>
          <a:p>
            <a:r>
              <a:rPr lang="en-US" b="1" dirty="0"/>
              <a:t>IN-</a:t>
            </a:r>
            <a:r>
              <a:rPr lang="en-US" b="1" dirty="0" err="1"/>
              <a:t>SPACe</a:t>
            </a:r>
            <a:r>
              <a:rPr lang="en-US" b="1" dirty="0"/>
              <a:t> Model Rocketry/CAN-7USAT India Student Competition 2026</a:t>
            </a:r>
            <a:r>
              <a:rPr lang="en-IN" b="1" dirty="0"/>
              <a:t>:</a:t>
            </a:r>
            <a:r>
              <a:rPr lang="en-US" b="1" dirty="0"/>
              <a:t>: Team Name</a:t>
            </a:r>
            <a:endParaRPr lang="en-IN" b="1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99CB0-4C32-4B68-A389-FCE520BC031C}" type="slidenum">
              <a:rPr lang="en-IN" smtClean="0"/>
              <a:t>7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07C18-D818-35FC-582D-329FFCE301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179" y="136525"/>
            <a:ext cx="2329641" cy="57786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BF4F59-4F64-4EEE-8BC7-FD9145076BB8}"/>
              </a:ext>
            </a:extLst>
          </p:cNvPr>
          <p:cNvSpPr txBox="1"/>
          <p:nvPr/>
        </p:nvSpPr>
        <p:spPr>
          <a:xfrm>
            <a:off x="-14002" y="886593"/>
            <a:ext cx="12206002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Realization and readiness plan including Quality control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0548FD-DFA7-4E15-ACFB-F05CE31AF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024" y="6031161"/>
            <a:ext cx="1463976" cy="82348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11480" y="1517904"/>
            <a:ext cx="11365992" cy="329184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1517904"/>
            <a:ext cx="11329416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DEVELOPMENT MILESTONES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1975104"/>
            <a:ext cx="1517904" cy="676656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12700"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2020824"/>
            <a:ext cx="1517904" cy="6400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B7A43"/>
                </a:solidFill>
                <a:latin typeface="Calibri"/>
              </a:rPr>
              <a:t>Register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5A5A"/>
                </a:solidFill>
                <a:latin typeface="Calibri"/>
              </a:rPr>
              <a:t>by 30 Apr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2807" y="1975104"/>
            <a:ext cx="201168" cy="67665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B5394"/>
                </a:solidFill>
                <a:latin typeface="Calibri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48256" y="1975104"/>
            <a:ext cx="1517904" cy="676656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48256" y="2020824"/>
            <a:ext cx="1517904" cy="6400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E75B6"/>
                </a:solidFill>
                <a:latin typeface="Calibri"/>
              </a:rPr>
              <a:t>PDR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5A5A"/>
                </a:solidFill>
                <a:latin typeface="Calibri"/>
              </a:rPr>
              <a:t>May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9584" y="1975104"/>
            <a:ext cx="201168" cy="67665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B5394"/>
                </a:solidFill>
                <a:latin typeface="Calibri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85032" y="1975104"/>
            <a:ext cx="1517904" cy="676656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85032" y="2020824"/>
            <a:ext cx="1517904" cy="6400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E75B6"/>
                </a:solidFill>
                <a:latin typeface="Calibri"/>
              </a:rPr>
              <a:t>Procure+Build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5A5A"/>
                </a:solidFill>
                <a:latin typeface="Calibri"/>
              </a:rPr>
              <a:t>Jun-Jul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1975104"/>
            <a:ext cx="201168" cy="67665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B5394"/>
                </a:solidFill>
                <a:latin typeface="Calibri"/>
              </a:rP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21808" y="1975104"/>
            <a:ext cx="1517904" cy="676656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12700"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21808" y="2020824"/>
            <a:ext cx="1517904" cy="6400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B7A43"/>
                </a:solidFill>
                <a:latin typeface="Calibri"/>
              </a:rPr>
              <a:t>CDR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5A5A"/>
                </a:solidFill>
                <a:latin typeface="Calibri"/>
              </a:rPr>
              <a:t>31 Jul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3136" y="1975104"/>
            <a:ext cx="201168" cy="67665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B5394"/>
                </a:solidFill>
                <a:latin typeface="Calibri"/>
              </a:rP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58584" y="1975104"/>
            <a:ext cx="1517904" cy="676656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58584" y="2020824"/>
            <a:ext cx="1517904" cy="6400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E75B6"/>
                </a:solidFill>
                <a:latin typeface="Calibri"/>
              </a:rPr>
              <a:t>Test+Integrate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5A5A"/>
                </a:solidFill>
                <a:latin typeface="Calibri"/>
              </a:rPr>
              <a:t>Aug-Sep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2" y="1975104"/>
            <a:ext cx="201168" cy="67665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B5394"/>
                </a:solidFill>
                <a:latin typeface="Calibri"/>
              </a:rP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1975104"/>
            <a:ext cx="1517904" cy="676656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12700"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95360" y="2020824"/>
            <a:ext cx="1517904" cy="6400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B7A43"/>
                </a:solidFill>
                <a:latin typeface="Calibri"/>
              </a:rPr>
              <a:t>FRR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5A5A"/>
                </a:solidFill>
                <a:latin typeface="Calibri"/>
              </a:rPr>
              <a:t>by 15 Oct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6688" y="1975104"/>
            <a:ext cx="201168" cy="676656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B5394"/>
                </a:solidFill>
                <a:latin typeface="Calibri"/>
              </a:rPr>
              <a:t>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32136" y="1975104"/>
            <a:ext cx="1517904" cy="676656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12700"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32136" y="2020824"/>
            <a:ext cx="1517904" cy="6400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B7A43"/>
                </a:solidFill>
                <a:latin typeface="Calibri"/>
              </a:rPr>
              <a:t>Launch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5A5A"/>
                </a:solidFill>
                <a:latin typeface="Calibri"/>
              </a:rPr>
              <a:t>Oct-Nov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999232"/>
            <a:ext cx="3657600" cy="2651760"/>
          </a:xfrm>
          <a:prstGeom prst="rect">
            <a:avLst/>
          </a:prstGeom>
          <a:solidFill>
            <a:srgbClr val="F4F8FD"/>
          </a:solidFill>
          <a:ln w="12700">
            <a:solidFill>
              <a:srgbClr val="0B53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66928" y="3108960"/>
            <a:ext cx="3346704" cy="329184"/>
          </a:xfrm>
          <a:prstGeom prst="roundRect">
            <a:avLst>
              <a:gd name="adj" fmla="val 6000"/>
            </a:avLst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5216" y="3108960"/>
            <a:ext cx="3310128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QUALITY CONTROL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" y="3547872"/>
            <a:ext cx="3291840" cy="20116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>
                <a:solidFill>
                  <a:srgbClr val="333333"/>
                </a:solidFill>
                <a:latin typeface="Calibri"/>
              </a:rPr>
              <a:t>Every subsystem tested before integration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>
                <a:solidFill>
                  <a:srgbClr val="333333"/>
                </a:solidFill>
                <a:latin typeface="Calibri"/>
              </a:rPr>
              <a:t>Environmental tests: drop, vibration, thermal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>
                <a:solidFill>
                  <a:srgbClr val="333333"/>
                </a:solidFill>
                <a:latin typeface="Calibri"/>
              </a:rPr>
              <a:t>Full mission simulation before FRR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>
                <a:solidFill>
                  <a:srgbClr val="333333"/>
                </a:solidFill>
                <a:latin typeface="Calibri"/>
              </a:rPr>
              <a:t>Sensor calibration curves documented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2E75B6"/>
                </a:solidFill>
                <a:latin typeface="Calibri"/>
              </a:rPr>
              <a:t>• </a:t>
            </a:r>
            <a:r>
              <a:rPr sz="1000">
                <a:solidFill>
                  <a:srgbClr val="333333"/>
                </a:solidFill>
                <a:latin typeface="Calibri"/>
              </a:rPr>
              <a:t>Version-controlled firmware + change log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2999232"/>
            <a:ext cx="3657600" cy="2651760"/>
          </a:xfrm>
          <a:prstGeom prst="rect">
            <a:avLst/>
          </a:prstGeom>
          <a:solidFill>
            <a:srgbClr val="E6F4EA"/>
          </a:solidFill>
          <a:ln w="12700"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361688" y="3108960"/>
            <a:ext cx="3346704" cy="329184"/>
          </a:xfrm>
          <a:prstGeom prst="roundRect">
            <a:avLst>
              <a:gd name="adj" fmla="val 6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79975" y="3108960"/>
            <a:ext cx="3310128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COMPLIANCE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61688" y="3584448"/>
            <a:ext cx="3346704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B7A43"/>
                </a:solidFill>
                <a:latin typeface="Calibri"/>
              </a:rPr>
              <a:t>42 / 42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requirements compliant by design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98264" y="4553712"/>
            <a:ext cx="3291840" cy="10058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75B6"/>
                </a:solidFill>
                <a:latin typeface="Calibri"/>
              </a:rPr>
              <a:t>• </a:t>
            </a:r>
            <a:r>
              <a:rPr sz="950">
                <a:solidFill>
                  <a:srgbClr val="333333"/>
                </a:solidFill>
                <a:latin typeface="Calibri"/>
              </a:rPr>
              <a:t>All mandatory rules met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75B6"/>
                </a:solidFill>
                <a:latin typeface="Calibri"/>
              </a:rPr>
              <a:t>• </a:t>
            </a:r>
            <a:r>
              <a:rPr sz="950">
                <a:solidFill>
                  <a:srgbClr val="333333"/>
                </a:solidFill>
                <a:latin typeface="Calibri"/>
              </a:rPr>
              <a:t>+4 optional objectives (i,ii,iii,iv)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E75B6"/>
                </a:solidFill>
                <a:latin typeface="Calibri"/>
              </a:rPr>
              <a:t>• </a:t>
            </a:r>
            <a:r>
              <a:rPr sz="950">
                <a:solidFill>
                  <a:srgbClr val="333333"/>
                </a:solidFill>
                <a:latin typeface="Calibri"/>
              </a:rPr>
              <a:t>NavIC + Made-in-India weightage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01000" y="2999232"/>
            <a:ext cx="3776472" cy="2651760"/>
          </a:xfrm>
          <a:prstGeom prst="rect">
            <a:avLst/>
          </a:prstGeom>
          <a:solidFill>
            <a:srgbClr val="FFF4E0"/>
          </a:solidFill>
          <a:ln w="12700">
            <a:solidFill>
              <a:srgbClr val="B3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156448" y="3108960"/>
            <a:ext cx="3465576" cy="329184"/>
          </a:xfrm>
          <a:prstGeom prst="roundRect">
            <a:avLst>
              <a:gd name="adj" fmla="val 6000"/>
            </a:avLst>
          </a:prstGeom>
          <a:solidFill>
            <a:srgbClr val="B3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74736" y="3108960"/>
            <a:ext cx="3429000" cy="3291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READINESS STATEMENT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56448" y="3566160"/>
            <a:ext cx="3465576" cy="20116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The design is mature, fully </a:t>
            </a:r>
            <a:r>
              <a:rPr sz="1050" b="1" i="0">
                <a:solidFill>
                  <a:srgbClr val="B36A00"/>
                </a:solidFill>
                <a:latin typeface="Calibri"/>
              </a:rPr>
              <a:t>compliant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, and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buildable within budget and schedule. It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adds a distinctive </a:t>
            </a:r>
            <a:r>
              <a:rPr sz="1050" b="1" i="0">
                <a:solidFill>
                  <a:srgbClr val="B36A00"/>
                </a:solidFill>
                <a:latin typeface="Calibri"/>
              </a:rPr>
              <a:t>atmospheric pollution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B36A00"/>
                </a:solidFill>
                <a:latin typeface="Calibri"/>
              </a:rPr>
              <a:t>payload, video + targeted landing</a:t>
            </a:r>
            <a:r>
              <a:rPr sz="1050" b="0" i="0">
                <a:solidFill>
                  <a:srgbClr val="333333"/>
                </a:solidFill>
                <a:latin typeface="Calibri"/>
              </a:rPr>
              <a:t> on 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two-stage parachute + momentum-wheel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platform — ready to proceed to CDR.</a:t>
            </a:r>
          </a:p>
        </p:txBody>
      </p:sp>
    </p:spTree>
    <p:extLst>
      <p:ext uri="{BB962C8B-B14F-4D97-AF65-F5344CB8AC3E}">
        <p14:creationId xmlns:p14="http://schemas.microsoft.com/office/powerpoint/2010/main" val="3966930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4724</TotalTime>
  <Words>1524</Words>
  <Application>Microsoft Macintosh PowerPoint</Application>
  <PresentationFormat>Widescreen</PresentationFormat>
  <Paragraphs>275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brijesh</dc:creator>
  <cp:lastModifiedBy>Daksh Rathore</cp:lastModifiedBy>
  <cp:revision>14</cp:revision>
  <dcterms:created xsi:type="dcterms:W3CDTF">2022-09-03T17:25:02Z</dcterms:created>
  <dcterms:modified xsi:type="dcterms:W3CDTF">2026-06-11T11:47:54Z</dcterms:modified>
</cp:coreProperties>
</file>